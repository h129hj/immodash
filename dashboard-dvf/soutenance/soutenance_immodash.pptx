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883E"/>
                </a:solidFill>
                <a:latin typeface="Geist Mono"/>
              </a:rPr>
              <a:t>🏠 ATELIER YBOOST · IA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0" b="1">
                <a:solidFill>
                  <a:srgbClr val="ECE8DF"/>
                </a:solidFill>
                <a:latin typeface="Fraunces"/>
              </a:rPr>
              <a:t>ImmoDash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0883E"/>
                </a:solidFill>
                <a:latin typeface="Fraunces"/>
              </a:rPr>
              <a:t>Lire le marché immobilier français en 10 secondes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3A6"/>
                </a:solidFill>
                <a:latin typeface="Geist"/>
              </a:rPr>
              <a:t>Dashboard d'analyse des Demandes de Valeurs Foncières — 2,79 M de ventes · 2023-2025 · toute la France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29200"/>
            <a:ext cx="27432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ECE8DF"/>
                </a:solidFill>
                <a:latin typeface="Geist"/>
              </a:rPr>
              <a:t>Hugo Berton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3A6"/>
                </a:solidFill>
                <a:latin typeface="Geist"/>
              </a:rPr>
              <a:t>Bachelor 1 · Ynov · github.com/H129hj/ImmoDash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Au programme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292608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1.  Contexte &amp; problématique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2.  Les données DVF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3.  La démarche (pipeline)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292608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4.  Architecture technique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5.  Démo du dashboard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6.  Insights clés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011680"/>
            <a:ext cx="3474720" cy="2926080"/>
          </a:xfrm>
          <a:prstGeom prst="roundRect">
            <a:avLst/>
          </a:prstGeom>
          <a:solidFill>
            <a:srgbClr val="16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2860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7.  Originalité (thèmes + jeu)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8.  Choix &amp; limites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ECE8DF"/>
                </a:solidFill>
                <a:latin typeface="Geist"/>
              </a:rPr>
              <a:t>▹  9.  Conclusion ·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01 ·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Le défi : donner du sens à la donnée brute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589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Les DVF recensent TOUTES les ventes immobilières en France (open data, DGFiP).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Sur 3 ans : ~2,79 millions de transactions → impossible à lire à l'œil nu.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Problématique : comment rendre ces données compréhensibles en 10 secondes ?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Objectif : transformer la donnée brute en réponses claires — où, à quel prix, quelle évolution.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828800"/>
            <a:ext cx="3200400" cy="3108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03120"/>
            <a:ext cx="2743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EN CHIFFRES</a:t>
            </a:r>
          </a:p>
          <a:p>
            <a:pPr algn="l">
              <a:spcAft>
                <a:spcPts val="800"/>
              </a:spcAft>
            </a:pPr>
            <a:r>
              <a:rPr sz="3400" b="1">
                <a:solidFill>
                  <a:srgbClr val="ECE8DF"/>
                </a:solidFill>
                <a:latin typeface="Geist"/>
              </a:rPr>
              <a:t>2,79 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3A6"/>
                </a:solidFill>
                <a:latin typeface="Geist"/>
              </a:rPr>
              <a:t>transactions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5FB3C4"/>
                </a:solidFill>
                <a:latin typeface="Geist"/>
              </a:rPr>
              <a:t>93 départements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3A6"/>
                </a:solidFill>
                <a:latin typeface="Geist"/>
              </a:rPr>
              <a:t>toute la France · 36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02 ·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DVF — Demandes de Valeurs Foncières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Registre public de toutes les mutations immobilières (source : DGFiP / data.gouv.fr).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Une ligne = une vente : valeur_fonciere, surface_reelle, type_bien, commune, code_departement, date_mutation.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Indicateur clé dérivé : prix au m² = valeur_fonciere / surface_reelle.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Croisé avec la population INSEE → indicateur de dynamisme (ventes / 100 000 hab.).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03 · DÉMARCHE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Un pipeline, de la donnée brute à la dataviz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146304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5FB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CE8DF"/>
                </a:solidFill>
                <a:latin typeface="Geist"/>
              </a:rPr>
              <a:t>Collecte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A93A6"/>
                </a:solidFill>
                <a:latin typeface="Geist"/>
              </a:rPr>
              <a:t>API DVF
+ INSEE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0883E"/>
                </a:solidFill>
                <a:latin typeface="Geis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468880"/>
            <a:ext cx="146304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5786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CE8DF"/>
                </a:solidFill>
                <a:latin typeface="Geist"/>
              </a:rPr>
              <a:t>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A93A6"/>
                </a:solidFill>
                <a:latin typeface="Geist"/>
              </a:rPr>
              <a:t>stockage
relationnel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0883E"/>
                </a:solidFill>
                <a:latin typeface="Geis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468880"/>
            <a:ext cx="146304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5786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CE8DF"/>
                </a:solidFill>
                <a:latin typeface="Geist"/>
              </a:rPr>
              <a:t>Nettoyage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004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A93A6"/>
                </a:solidFill>
                <a:latin typeface="Geist"/>
              </a:rPr>
              <a:t>Pandas
NaN, doublons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0883E"/>
                </a:solidFill>
                <a:latin typeface="Geis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0"/>
            <a:ext cx="146304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5786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CE8DF"/>
                </a:solidFill>
                <a:latin typeface="Geist"/>
              </a:rPr>
              <a:t>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A93A6"/>
                </a:solidFill>
                <a:latin typeface="Geist"/>
              </a:rPr>
              <a:t>DVF × INSEE
(pd.merge)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0883E"/>
                </a:solidFill>
                <a:latin typeface="Geis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468880"/>
            <a:ext cx="146304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5786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CE8DF"/>
                </a:solidFill>
                <a:latin typeface="Geist"/>
              </a:rPr>
              <a:t>Agrégats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2004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A93A6"/>
                </a:solidFill>
                <a:latin typeface="Geist"/>
              </a:rPr>
              <a:t>médianes
segments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0883E"/>
                </a:solidFill>
                <a:latin typeface="Geis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468880"/>
            <a:ext cx="146304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5FB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5786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CE8DF"/>
                </a:solidFill>
                <a:latin typeface="Geist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2004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A93A6"/>
                </a:solidFill>
                <a:latin typeface="Geist"/>
              </a:rPr>
              <a:t>React
d3 · Recharts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3A6"/>
                </a:solidFill>
                <a:latin typeface="Geist"/>
              </a:rPr>
              <a:t>Pipeline Python (Pandas/SQLite) pour le traitement ; le dashboard restitue les agrégats officiels de l'API DVF sur 3 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04 · 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Nettoyage &amp; feature engineering (Pandas)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329184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F0883E"/>
                </a:solidFill>
                <a:latin typeface="Geist Mono"/>
              </a:rPr>
              <a:t>NETTOYAGE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Suppression NaN, doublons, aberrations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Bornes prix au m² : 500–15 000 €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Typage des dates (datetime)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8A93A6"/>
                </a:solidFill>
                <a:latin typeface="Geist"/>
              </a:rPr>
              <a:t>• « Garbage in, garbage out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329184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5FB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5740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5FB3C4"/>
                </a:solidFill>
                <a:latin typeface="Geist Mono"/>
              </a:rPr>
              <a:t>VARIABLES CRÉÉES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prix_m2 (indicateur central)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mois (évolution temporelle)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segment : Éco / Standard / Luxe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8A93A6"/>
                </a:solidFill>
                <a:latin typeface="Geist"/>
              </a:rPr>
              <a:t>• Médiane privilégiée (≠ moyenne) : robuste aux extrêmes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05 ·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Architecture : développé de A à 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32004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0883E"/>
                </a:solidFill>
                <a:latin typeface="Geist"/>
              </a:rPr>
              <a:t>BACK / DATA — Python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Pandas (traitement), SQLite (stockage)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Collecte API DVF + INSEE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Agrégation → un JSON unique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32004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5FB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5740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FB3C4"/>
                </a:solidFill>
                <a:latin typeface="Geist"/>
              </a:rPr>
              <a:t>FRONT — React / TypeScript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Tailwind, Recharts, carte d3-geo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6 pages, filtres en direct, animations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3 thèmes (sombre / clair / Mario)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06 ·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Vue d'ensemble du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28800"/>
            <a:ext cx="9144000" cy="4752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06 ·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Carte interactive des départements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d-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28800"/>
            <a:ext cx="9144000" cy="4752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07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Lecture nationale du marché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CE8DF"/>
                </a:solidFill>
                <a:latin typeface="Geist"/>
              </a:rPr>
              <a:t>2 576 €/m²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3A6"/>
                </a:solidFill>
                <a:latin typeface="Geist"/>
              </a:rPr>
              <a:t>prix médian national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5FB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CE8DF"/>
                </a:solidFill>
                <a:latin typeface="Geist"/>
              </a:rPr>
              <a:t>Paris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3A6"/>
                </a:solidFill>
                <a:latin typeface="Geist"/>
              </a:rPr>
              <a:t>le + cher (~10 250 €/m²)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828800"/>
            <a:ext cx="342900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57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CE8DF"/>
                </a:solidFill>
                <a:latin typeface="Geist"/>
              </a:rPr>
              <a:t>− 1,9 %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3A6"/>
                </a:solidFill>
                <a:latin typeface="Geist"/>
              </a:rPr>
              <a:t>évolution sur 3 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La carte révèle une France à deux vitesses : Paris / Côte d'Azur vs reste du territoire (rapport ~7×).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Le marché s'est refroidi récemment (hausse des taux) : −1,9 % sur 36 mois.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72 % des biens &lt; 4 000 €/m² (« Éco ») ; le luxe (&gt; 8 000) ne pèse que ~5 %.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07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Typologie &amp; segments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Au m², l'appartement (~3 340 €) se vend plus cher que la maison (~2 120 €) — densité urbaine.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Segmentation Éco / Standard / Luxe : lecture immédiate de la structure du marché.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Croisement INSEE : on rapporte le volume de ventes à la population (dynamisme par territoire).</a:t>
            </a:r>
          </a:p>
        </p:txBody>
      </p:sp>
      <p:pic>
        <p:nvPicPr>
          <p:cNvPr id="7" name="Picture 6" descr="im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383280"/>
            <a:ext cx="7772400" cy="40395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08 · ORIGINALITÉ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Aller au-delà de ce qui est demandé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3 thèmes : sombre, clair (rendu pro) et un thème Mario (sons, animations) en bonus.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Un mini-jeu intégré : on court sur la courbe des prix — la donnée devient le terrain.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Une landing page portfolio externe qui présente le projet &amp; la data (graphiques live).</a:t>
            </a:r>
          </a:p>
        </p:txBody>
      </p:sp>
      <p:pic>
        <p:nvPicPr>
          <p:cNvPr id="7" name="Picture 6" descr="imd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5577840" cy="28989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09 · RECUL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Choix d'analyse &amp; limites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32004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754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0883E"/>
                </a:solidFill>
                <a:latin typeface="Geist"/>
              </a:rPr>
              <a:t>MES CHOIX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Médiane plutôt que moyenne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Prix au m² borné (anti-aberrations)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Agrégats API (pas 10 Go bruts côté client)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Fenêtre 3 ans = tendance lisible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32004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5FB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57400"/>
            <a:ext cx="4754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FB3C4"/>
                </a:solidFill>
                <a:latin typeface="Geist"/>
              </a:rPr>
              <a:t>LIMITES &amp; PISTES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Instantané géo = niveau de prix médian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Données DVF parfois imparfaites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8DF"/>
                </a:solidFill>
                <a:latin typeface="Geist"/>
              </a:rPr>
              <a:t>• Aller plus loin : prévision, +sources INSEE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883E"/>
                </a:solidFill>
                <a:latin typeface="Geist Mono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CE8DF"/>
                </a:solidFill>
                <a:latin typeface="Fraunces"/>
              </a:rPr>
              <a:t>Ce que je retiens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828800" cy="38100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Une chaîne data complète : de la donnée brute (API/Pandas/SQLite) au dashboard React interactif.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Un livrable qui répond à l'énoncé : comprendre le marché immobilier en 10 secondes.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Compétences : Pandas, fusion de sources, agrégation, dataviz, storytelling, et un vrai souci du design.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ECE8DF"/>
                </a:solidFill>
                <a:latin typeface="Geist"/>
              </a:rPr>
              <a:t>▹  Et un projet qui sort du lot par son originalité (thèmes, jeu, portfolio).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ImmoDash — Marché immobilier DVF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3A6"/>
                </a:solidFill>
                <a:latin typeface="Geis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ECE8DF"/>
                </a:solidFill>
                <a:latin typeface="Fraunces"/>
              </a:rPr>
              <a:t>Merci de votre attention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F0883E"/>
                </a:solidFill>
                <a:latin typeface="Fraunces"/>
              </a:rPr>
              <a:t>Place à vos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3A6"/>
                </a:solidFill>
                <a:latin typeface="Geist"/>
              </a:rPr>
              <a:t>Hugo Berton — ImmoDash · github.com/H129hj/ImmoDash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