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7A1A"/>
                </a:solidFill>
                <a:latin typeface="Segoe UI"/>
              </a:rPr>
              <a:t>🏠 DVF ·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>
                <a:solidFill>
                  <a:srgbClr val="ECF1F8"/>
                </a:solidFill>
                <a:latin typeface="Segoe UI"/>
              </a:rPr>
              <a:t>Analyse du marché</a:t>
            </a:r>
          </a:p>
          <a:p>
            <a:pPr algn="l">
              <a:spcAft>
                <a:spcPts val="200"/>
              </a:spcAft>
            </a:pPr>
            <a:r>
              <a:rPr sz="4600" b="1">
                <a:solidFill>
                  <a:srgbClr val="FF7A1A"/>
                </a:solidFill>
                <a:latin typeface="Segoe UI"/>
              </a:rPr>
              <a:t>immobilier français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14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8B9BB4"/>
                </a:solidFill>
                <a:latin typeface="Segoe UI"/>
              </a:rPr>
              <a:t>Dashboard interactif des Demandes de Valeurs Foncières — 1ᵉʳ semestre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800600"/>
            <a:ext cx="274320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CF1F8"/>
                </a:solidFill>
                <a:latin typeface="Segoe UI"/>
              </a:rPr>
              <a:t>Hugo Berton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Segoe UI"/>
              </a:rPr>
              <a:t>Yboost IA &amp; Data — Bachelor 1 · Ynov · Soutenance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Au programme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474720" cy="3108960"/>
          </a:xfrm>
          <a:prstGeom prst="round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ECF1F8"/>
                </a:solidFill>
                <a:latin typeface="Segoe UI"/>
              </a:rPr>
              <a:t>▹  1.  Contexte &amp; problématique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ECF1F8"/>
                </a:solidFill>
                <a:latin typeface="Segoe UI"/>
              </a:rPr>
              <a:t>▹  2.  Le jeu de données DVF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ECF1F8"/>
                </a:solidFill>
                <a:latin typeface="Segoe UI"/>
              </a:rPr>
              <a:t>▹  3.  La démarche (pipeline)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ECF1F8"/>
                </a:solidFill>
                <a:latin typeface="Segoe UI"/>
              </a:rPr>
              <a:t>▹  4.  Nettoyage des données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474720" cy="3108960"/>
          </a:xfrm>
          <a:prstGeom prst="round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860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ECF1F8"/>
                </a:solidFill>
                <a:latin typeface="Segoe UI"/>
              </a:rPr>
              <a:t>▹  5.  Feature engineering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ECF1F8"/>
                </a:solidFill>
                <a:latin typeface="Segoe UI"/>
              </a:rPr>
              <a:t>▹  6.  Architecture technique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ECF1F8"/>
                </a:solidFill>
                <a:latin typeface="Segoe UI"/>
              </a:rPr>
              <a:t>▹  7.  Démonstration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ECF1F8"/>
                </a:solidFill>
                <a:latin typeface="Segoe UI"/>
              </a:rPr>
              <a:t>▹  8.  Insights clés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2011680"/>
            <a:ext cx="3474720" cy="3108960"/>
          </a:xfrm>
          <a:prstGeom prst="round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22860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ECF1F8"/>
                </a:solidFill>
                <a:latin typeface="Segoe UI"/>
              </a:rPr>
              <a:t>▹  9.  Focus Bouches-du-Rhône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ECF1F8"/>
                </a:solidFill>
                <a:latin typeface="Segoe UI"/>
              </a:rPr>
              <a:t>▹  10. Choix &amp; limites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ECF1F8"/>
                </a:solidFill>
                <a:latin typeface="Segoe UI"/>
              </a:rPr>
              <a:t>▹  11. Conclusion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ECF1F8"/>
                </a:solidFill>
                <a:latin typeface="Segoe UI"/>
              </a:rPr>
              <a:t>▹  12.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01 ·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Le défi : donner du sens à la donnée brute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Les données DVF recensent TOUTES les transactions immobilières en France (open data).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~400 000 ventes rien que sur le 1ᵉʳ semestre 2025 → impossible à lire « à l'œil nu ».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Problématique : comment rendre ces données compréhensibles en 10 secondes ?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Objectif : transformer un CSV brut en un tableau de bord clair qui raconte une histoire.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920240"/>
            <a:ext cx="3108960" cy="301752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2194560"/>
            <a:ext cx="2743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F7A1A"/>
                </a:solidFill>
                <a:latin typeface="Segoe UI"/>
              </a:rPr>
              <a:t>EN CHIFFRES</a:t>
            </a:r>
          </a:p>
          <a:p>
            <a:pPr algn="l">
              <a:spcAft>
                <a:spcPts val="800"/>
              </a:spcAft>
            </a:pPr>
            <a:r>
              <a:rPr sz="3400" b="1">
                <a:solidFill>
                  <a:srgbClr val="ECF1F8"/>
                </a:solidFill>
                <a:latin typeface="Segoe UI"/>
              </a:rPr>
              <a:t>404 868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B9BB4"/>
                </a:solidFill>
                <a:latin typeface="Segoe UI"/>
              </a:rPr>
              <a:t>transactions brutes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4F9CF9"/>
                </a:solidFill>
                <a:latin typeface="Segoe UI"/>
              </a:rPr>
              <a:t>10 colonnes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B9BB4"/>
                </a:solidFill>
                <a:latin typeface="Segoe UI"/>
              </a:rPr>
              <a:t>prix, surface, type, lieu…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02 ·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Le jeu de données : dataset_dvf_s1_2025.csv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Source : Demandes de Valeurs Foncières (DVF), publiées par data.gouv.fr.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Colonnes clés : valeur_fonciere, surface_reelle, type_bien, commune, code_departement, date_mutation.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Données réelles donc « sales » : valeurs manquantes, doublons, montants aberrants (jusqu'à 15 milliards €).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« Garbage In, Garbage Out » → un nettoyage rigoureux est indispensable.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03 · DÉMARCHE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Un pipeline ETL en 6 étapes (le fil rouge de l'année)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1463040" cy="155448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4F9C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F1F8"/>
                </a:solidFill>
                <a:latin typeface="Segoe UI"/>
              </a:rPr>
              <a:t>Collecte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8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 + INSEE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743200"/>
            <a:ext cx="411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7A1A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468880"/>
            <a:ext cx="1463040" cy="155448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578608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F1F8"/>
                </a:solidFill>
                <a:latin typeface="Segoe UI"/>
              </a:rPr>
              <a:t>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310128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immobilier.db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743200"/>
            <a:ext cx="411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7A1A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468880"/>
            <a:ext cx="1463040" cy="155448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578608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F1F8"/>
                </a:solidFill>
                <a:latin typeface="Segoe UI"/>
              </a:rPr>
              <a:t>Nettoyage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310128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Pandas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743200"/>
            <a:ext cx="411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7A1A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468880"/>
            <a:ext cx="1463040" cy="155448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578608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F1F8"/>
                </a:solidFill>
                <a:latin typeface="Segoe UI"/>
              </a:rPr>
              <a:t>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310128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pd.merge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743200"/>
            <a:ext cx="411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7A1A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468880"/>
            <a:ext cx="1463040" cy="155448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578608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F1F8"/>
                </a:solidFill>
                <a:latin typeface="Segoe UI"/>
              </a:rPr>
              <a:t>Features +
Agrégation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310128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prix_m2,
segments, groupby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743200"/>
            <a:ext cx="411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7A1A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468880"/>
            <a:ext cx="1463040" cy="155448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4F9C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578608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F1F8"/>
                </a:solidFill>
                <a:latin typeface="Segoe UI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310128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Streamlit
(filtres, carte)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720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8B9BB4"/>
                </a:solidFill>
                <a:latin typeface="Segoe UI"/>
              </a:rPr>
              <a:t>Chaque étape = une séance du module : collecte multi-sources (J1-2), base SQLite (J3),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B9BB4"/>
                </a:solidFill>
                <a:latin typeface="Segoe UI"/>
              </a:rPr>
              <a:t>nettoyage Pandas (J4), fusion DVF×INSEE (J5), feature engineering &amp; agrégation (J6), dashboard (J7).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04 · NETTOYAGE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Du brut au propre (Pandas)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Suppression des valeurs manquantes essentielles (valeur, surface) et des doublons.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Surfaces nulles/aberrantes écartées (un prix au m² a besoin d'une surface valide).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Montants aberrants filtrés : négatifs, nuls, ou délirants (&gt; 50 M€).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Typage de la date (datetime) ; département gardé en texte (« 01 », « 2A »).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920240"/>
            <a:ext cx="3108960" cy="301752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4F9C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2194560"/>
            <a:ext cx="2743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F9CF9"/>
                </a:solidFill>
                <a:latin typeface="Segoe UI"/>
              </a:rPr>
              <a:t>RÉSULTAT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8B9BB4"/>
                </a:solidFill>
                <a:latin typeface="Segoe UI"/>
              </a:rPr>
              <a:t>404 868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9BB4"/>
                </a:solidFill>
                <a:latin typeface="Segoe UI"/>
              </a:rPr>
              <a:t>↓ nettoyage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373 038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9BB4"/>
                </a:solidFill>
                <a:latin typeface="Segoe UI"/>
              </a:rPr>
              <a:t>lignes exploitables (92 %)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05 ·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Créer des variables qui ont du sens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prix_m2 = valeur_fonciere / surface_reelle  → l'indicateur central de comparaison.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annee &amp; mois extraits de la date → analyse de l'évolution temporelle.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segment_prix : Éco (&lt; 4 000) · Standard (4 000–8 000) · Luxe (&gt; 8 000 €/m²).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Focus géographique : indicateur booléen « Bouches-du-Rhône » (département 13).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Choix clé : la médiane plutôt que la moyenne (résistante aux valeurs extrêmes).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06 ·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Architecture : développé de A à 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310896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F7A1A"/>
                </a:solidFill>
                <a:latin typeface="Segoe UI"/>
              </a:rPr>
              <a:t>BACK-END — Python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Collecte DVF + INSEE (multi-sources)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Base SQLite (raw_dvf, raw_insee, clean)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Pandas : nettoyage, fusion, features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src/ modulaire + main.py orchestrateur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Sortie : un JSON unique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212080" cy="310896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4F9C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F9CF9"/>
                </a:solidFill>
                <a:latin typeface="Segoe UI"/>
              </a:rPr>
              <a:t>DASHBOARD — Streamlit (interactif)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Filtres live : département, type, segment,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B9BB4"/>
                </a:solidFill>
                <a:latin typeface="Segoe UI"/>
              </a:rPr>
              <a:t>  prix, mois + recherche de commune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Carte, graphiques Altair, KPIs dynamiques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Export CSV de la sélection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B9BB4"/>
                </a:solidFill>
                <a:latin typeface="Segoe UI"/>
              </a:rPr>
              <a:t>• (+ version HTML/CSS/JS fournie en bonus)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07 · 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Le dashboard Streamlit (filtres en direct)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eamlit-aperc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83080"/>
            <a:ext cx="9601200" cy="5400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08 ·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Lecture nationale du marché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29000" cy="137160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CF1F8"/>
                </a:solidFill>
                <a:latin typeface="Segoe UI"/>
              </a:rPr>
              <a:t>2 667 €/m²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Segoe UI"/>
              </a:rPr>
              <a:t>prix médian national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137160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4F9C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574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CF1F8"/>
                </a:solidFill>
                <a:latin typeface="Segoe UI"/>
              </a:rPr>
              <a:t>Paris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Segoe UI"/>
              </a:rPr>
              <a:t>département le plus cher (9 447 €/m²)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920240"/>
            <a:ext cx="3429000" cy="137160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4F9C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CF1F8"/>
                </a:solidFill>
                <a:latin typeface="Segoe UI"/>
              </a:rPr>
              <a:t>Creuse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Segoe UI"/>
              </a:rPr>
              <a:t>le plus abordable (1 474 €/m²)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La carte choroplèthe révèle d'un coup d'œil la fracture Paris / Côte d'Azur vs reste du territoire.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Grâce à la fusion INSEE, on rapporte le volume à la population : les Hautes-Alpes ressortent comme le marché le plus dynamique (≈ 1 129 ventes / 100 000 hab.).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08 ·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Segmentation &amp; type de bien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72 % des biens relèvent du segment « Éco » (&lt; 4 000 €/m²) : le marché reste majoritairement abordable.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Seuls ~7 % des biens dépassent 8 000 €/m² (« Luxe »), très concentrés sur Paris et la Côte d'Azur.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Au m², l'appartement (3 462 €) se vend plus cher que la maison (2 226 €) au national…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… mais l'inverse s'observe dans les Bouches-du-Rhône (effet maison + terrain en Provence).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09 · 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Carte interactive &amp; focus régional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eamlit-map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783080"/>
            <a:ext cx="7772400" cy="4371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B9BB4"/>
                </a:solidFill>
                <a:latin typeface="Segoe UI"/>
              </a:rPr>
              <a:t>Couleur = prix moyen au m² · taille = volume. En filtrant sur le « 13 », on obtient instantanément le focus Bouches-du-Rhône.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10 · RECUL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Choix d'analyse &amp; limites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320040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7548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7A1A"/>
                </a:solidFill>
                <a:latin typeface="Segoe UI"/>
              </a:rPr>
              <a:t>MES CHOIX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Médiane vs moyenne sur les prix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prix_m2 borné à 500–15 000 €/m²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Classement limité à la métropole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Seuils mini de transactions (fiabilité)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212080" cy="320040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4F9C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7548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F9CF9"/>
                </a:solidFill>
                <a:latin typeface="Segoe UI"/>
              </a:rPr>
              <a:t>LIMITES &amp; PISTES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Données DVF parfois imparfaites (multi-lots)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1 seul semestre → pas de tendance annuelle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Fusion possible avec données INSEE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F1F8"/>
                </a:solidFill>
                <a:latin typeface="Segoe UI"/>
              </a:rPr>
              <a:t>• Filtres interactifs par département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A"/>
                </a:solidFill>
                <a:latin typeface="Segoe UI"/>
              </a:rPr>
              <a:t>11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F1F8"/>
                </a:solidFill>
                <a:latin typeface="Segoe UI"/>
              </a:rPr>
              <a:t>Ce que je retiens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011680" cy="3810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Un projet data complet, de la donnée brute au dashboard interactif.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Maîtrise de la chaîne : collecte → nettoyage → feature engineering → agrégation → visualisation.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Un livrable qui répond à la question de départ : comprendre le marché en 10 secondes.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CF1F8"/>
                </a:solidFill>
                <a:latin typeface="Segoe UI"/>
              </a:rPr>
              <a:t>▹  Compétences clés : Pandas, structuration de projet, dataviz et storytelling.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DVF·Insight — Dashboard immobilier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B9BB4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ECF1F8"/>
                </a:solidFill>
                <a:latin typeface="Segoe UI"/>
              </a:rPr>
              <a:t>Merci de votre attention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FF7A1A"/>
                </a:solidFill>
                <a:latin typeface="Segoe UI"/>
              </a:rPr>
              <a:t>Place à vos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B9BB4"/>
                </a:solidFill>
                <a:latin typeface="Segoe UI"/>
              </a:rPr>
              <a:t>Hugo Berton — Dashboard immobilier DVF 2025 — Yboost IA &amp;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